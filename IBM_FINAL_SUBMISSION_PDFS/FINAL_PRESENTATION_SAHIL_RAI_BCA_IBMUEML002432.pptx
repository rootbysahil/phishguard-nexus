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32720" cy="5029200"/>
          </a:xfrm>
          <a:prstGeom prst="rect">
            <a:avLst/>
          </a:prstGeom>
          <a:noFill/>
        </p:spPr>
        <p:txBody>
          <a:bodyPr wrap="square">
            <a:spAutoFit/>
          </a:bodyPr>
          <a:lstStyle/>
          <a:p>
            <a:pPr>
              <a:defRPr sz="1300" b="1">
                <a:solidFill>
                  <a:srgbClr val="1192E8"/>
                </a:solidFill>
                <a:latin typeface="Arial"/>
              </a:defRPr>
            </a:pPr>
            <a:r>
              <a:t>AICTE &amp;ndash; BHARATCARES &amp;ndash; IBM SKILLSBUILD INTERNSHIP 2026</a:t>
            </a:r>
          </a:p>
          <a:p>
            <a:pPr>
              <a:spcAft>
                <a:spcPts val="800"/>
              </a:spcAft>
              <a:defRPr sz="4600" b="1">
                <a:solidFill>
                  <a:srgbClr val="FFFFFF"/>
                </a:solidFill>
                <a:latin typeface="Arial"/>
              </a:defRPr>
            </a:pPr>
            <a:r>
              <a:t>PHISHGUARD//NEXUS</a:t>
            </a:r>
          </a:p>
          <a:p>
            <a:pPr>
              <a:spcAft>
                <a:spcPts val="2400"/>
              </a:spcAft>
              <a:defRPr sz="2200">
                <a:solidFill>
                  <a:srgbClr val="BED7FF"/>
                </a:solidFill>
                <a:latin typeface="Arial"/>
              </a:defRPr>
            </a:pPr>
            <a:r>
              <a:t>Explainable AI Phishing &amp; Scam Detection Platform</a:t>
            </a:r>
          </a:p>
          <a:p>
            <a:pPr>
              <a:defRPr sz="1300" b="1">
                <a:solidFill>
                  <a:srgbClr val="FFFFFF"/>
                </a:solidFill>
              </a:defRPr>
            </a:pPr>
            <a:r>
              <a:t>• Student Name: Sahil Rai</a:t>
            </a:r>
          </a:p>
          <a:p>
            <a:pPr>
              <a:defRPr sz="1300">
                <a:solidFill>
                  <a:srgbClr val="FFFFFF"/>
                </a:solidFill>
              </a:defRPr>
            </a:pPr>
            <a:r>
              <a:t>• Degree Program: Bachelor of Computer Applications (BCA)</a:t>
            </a:r>
          </a:p>
          <a:p>
            <a:pPr>
              <a:defRPr sz="1300">
                <a:solidFill>
                  <a:srgbClr val="FFFFFF"/>
                </a:solidFill>
              </a:defRPr>
            </a:pPr>
            <a:r>
              <a:t>• Academic Institution: Lovely Professional University (LPU), Punjab</a:t>
            </a:r>
          </a:p>
          <a:p>
            <a:pPr>
              <a:defRPr sz="1300">
                <a:solidFill>
                  <a:srgbClr val="FFFFFF"/>
                </a:solidFill>
              </a:defRPr>
            </a:pPr>
            <a:r>
              <a:t>• Internship ID: IBMUEML002432 | Track: Machine Learning &amp; Applied AI</a:t>
            </a:r>
          </a:p>
          <a:p>
            <a:pPr>
              <a:defRPr sz="1300">
                <a:solidFill>
                  <a:srgbClr val="1192E8"/>
                </a:solidFill>
              </a:defRPr>
            </a:pPr>
            <a:r>
              <a:t>• Live Cloud Platform: https://phishguard-nexus.vercel.app/ (tinyurl.com/pg-nexus)</a:t>
            </a:r>
          </a:p>
          <a:p>
            <a:pPr>
              <a:defRPr sz="1300">
                <a:solidFill>
                  <a:srgbClr val="1192E8"/>
                </a:solidFill>
              </a:defRPr>
            </a:pPr>
            <a:r>
              <a:t>• GitHub Repository: https://github.com/rootbysahil/phishguard-nexus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Problem Statement &amp; UN Sustainable Development Goals (SDGs)</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846320" cy="4663440"/>
          </a:xfrm>
          <a:prstGeom prst="rect">
            <a:avLst/>
          </a:prstGeom>
          <a:noFill/>
        </p:spPr>
        <p:txBody>
          <a:bodyPr wrap="square">
            <a:spAutoFit/>
          </a:bodyPr>
          <a:lstStyle/>
          <a:p>
            <a:pPr>
              <a:spcAft>
                <a:spcPts val="1000"/>
              </a:spcAft>
              <a:defRPr b="1" sz="1400">
                <a:solidFill>
                  <a:srgbClr val="DA1E28"/>
                </a:solidFill>
              </a:defRPr>
            </a:pPr>
            <a:r>
              <a:t>THE ZERO-DAY CYBERSECURITY CRISIS</a:t>
            </a:r>
          </a:p>
          <a:p>
            <a:pPr>
              <a:spcAft>
                <a:spcPts val="800"/>
              </a:spcAft>
            </a:pPr>
            <a:r>
              <a:rPr b="1" sz="1050"/>
              <a:t>• 4-Hour Attack Window: </a:t>
            </a:r>
            <a:r>
              <a:rPr sz="1000"/>
              <a:t>70%+ of modern phishing domains survive &lt;4 hours before mutating, evading static blacklists like Google Safe Browsing (12-48h lag).</a:t>
            </a:r>
          </a:p>
          <a:p>
            <a:pPr>
              <a:spcAft>
                <a:spcPts val="800"/>
              </a:spcAft>
            </a:pPr>
            <a:r>
              <a:rPr b="1" sz="1050"/>
              <a:t>• The Black-Box AI Dilemma: </a:t>
            </a:r>
            <a:r>
              <a:rPr sz="1000"/>
              <a:t>Deep neural nets output opaque probabilities with no forensic explanation, causing mistrust and alarm fatigue.</a:t>
            </a:r>
          </a:p>
          <a:p>
            <a:pPr>
              <a:spcAft>
                <a:spcPts val="800"/>
              </a:spcAft>
            </a:pPr>
            <a:r>
              <a:rPr b="1" sz="1050"/>
              <a:t>• Victim IP Leakage: </a:t>
            </a:r>
            <a:r>
              <a:rPr sz="1000"/>
              <a:t>Conventional scanner tools perform live DNS lookups, alerting threat actors and exposing the victim's location.</a:t>
            </a:r>
          </a:p>
          <a:p>
            <a:pPr>
              <a:spcAft>
                <a:spcPts val="800"/>
              </a:spcAft>
            </a:pPr>
            <a:r>
              <a:rPr b="1" sz="1050"/>
              <a:t>• No Localized Recourse in India: </a:t>
            </a:r>
            <a:r>
              <a:rPr sz="1000"/>
              <a:t>Victims of urgent UPI / fake KYC scams lack vernacular guidance or direct 1930 Cybercrime escalation.</a:t>
            </a:r>
          </a:p>
        </p:txBody>
      </p:sp>
      <p:sp>
        <p:nvSpPr>
          <p:cNvPr id="9" name="Rounded Rectangle 8"/>
          <p:cNvSpPr/>
          <p:nvPr/>
        </p:nvSpPr>
        <p:spPr>
          <a:xfrm>
            <a:off x="62179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4846320" cy="4663440"/>
          </a:xfrm>
          <a:prstGeom prst="rect">
            <a:avLst/>
          </a:prstGeom>
          <a:noFill/>
        </p:spPr>
        <p:txBody>
          <a:bodyPr wrap="square">
            <a:spAutoFit/>
          </a:bodyPr>
          <a:lstStyle/>
          <a:p>
            <a:pPr>
              <a:spcAft>
                <a:spcPts val="1200"/>
              </a:spcAft>
              <a:defRPr b="1" sz="1400">
                <a:solidFill>
                  <a:srgbClr val="198038"/>
                </a:solidFill>
              </a:defRPr>
            </a:pPr>
            <a:r>
              <a:t>UNITED NATIONS SDGS ALIGNMENT</a:t>
            </a:r>
          </a:p>
          <a:p>
            <a:pPr>
              <a:defRPr b="1" sz="1200">
                <a:solidFill>
                  <a:srgbClr val="0F62FE"/>
                </a:solidFill>
              </a:defRPr>
            </a:pPr>
            <a:r>
              <a:t>🛡️ SDG 9: Industry, Innovation, and Infrastructure</a:t>
            </a:r>
          </a:p>
          <a:p>
            <a:pPr>
              <a:spcAft>
                <a:spcPts val="1400"/>
              </a:spcAft>
              <a:defRPr sz="1000"/>
            </a:pPr>
            <a:r>
              <a:t>Target 9.c: Significantly increase access to information and communications technology.</a:t>
            </a:r>
            <a:br/>
            <a:r>
              <a:t>→ Delivers a lightweight, zero-latency (&lt;15ms) cybersecurity defense infrastructure accessible to all Indian citizens, MSMEs, and rural institutions without requiring costly enterprise software licenses.</a:t>
            </a:r>
          </a:p>
          <a:p>
            <a:pPr>
              <a:defRPr b="1" sz="1200">
                <a:solidFill>
                  <a:srgbClr val="0F62FE"/>
                </a:solidFill>
              </a:defRPr>
            </a:pPr>
            <a:r>
              <a:t>⚖️ SDG 16: Peace, Justice, and Strong Institutions</a:t>
            </a:r>
          </a:p>
          <a:p>
            <a:pPr>
              <a:defRPr sz="1000"/>
            </a:pPr>
            <a:r>
              <a:t>Target 16.4 &amp; 16.5: Combat organized cyber financial crime and reduce corruption/extortion.</a:t>
            </a:r>
            <a:br/>
            <a:r>
              <a:t>→ Directly neutralizes credential-stealing attacks and routes victims instantly to the National Cybercrime Portal (cybercrime.gov.in / 1930 Helpline).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The Lean Canvas Matrix (IBM SkillsBuild Masterclass 5)</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34440"/>
            <a:ext cx="2011680" cy="256032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307592"/>
            <a:ext cx="1865376" cy="2414015"/>
          </a:xfrm>
          <a:prstGeom prst="rect">
            <a:avLst/>
          </a:prstGeom>
          <a:noFill/>
        </p:spPr>
        <p:txBody>
          <a:bodyPr wrap="square">
            <a:spAutoFit/>
          </a:bodyPr>
          <a:lstStyle/>
          <a:p>
            <a:pPr>
              <a:spcAft>
                <a:spcPts val="400"/>
              </a:spcAft>
              <a:defRPr b="1" sz="950">
                <a:solidFill>
                  <a:srgbClr val="0F62FE"/>
                </a:solidFill>
              </a:defRPr>
            </a:pPr>
            <a:r>
              <a:t>1. PROBLEM</a:t>
            </a:r>
          </a:p>
          <a:p>
            <a:pPr>
              <a:defRPr sz="750">
                <a:solidFill>
                  <a:srgbClr val="161616"/>
                </a:solidFill>
              </a:defRPr>
            </a:pPr>
            <a:r>
              <a:t>• Zero-day links bypass blacklists (&lt;4h lifespan).</a:t>
            </a:r>
            <a:br/>
            <a:r>
              <a:t>• Black-box AI causes user mistrust.</a:t>
            </a:r>
            <a:br/>
            <a:r>
              <a:t>• Tools leak victim IP via live lookups.</a:t>
            </a:r>
            <a:br/>
            <a:br/>
            <a:r>
              <a:t>Alt: Google Safe Browsing, VirusTotal.</a:t>
            </a:r>
          </a:p>
        </p:txBody>
      </p:sp>
      <p:sp>
        <p:nvSpPr>
          <p:cNvPr id="9" name="Rounded Rectangle 8"/>
          <p:cNvSpPr/>
          <p:nvPr/>
        </p:nvSpPr>
        <p:spPr>
          <a:xfrm>
            <a:off x="2880360" y="1234440"/>
            <a:ext cx="2011680" cy="256032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53512" y="1307592"/>
            <a:ext cx="1865376" cy="2414015"/>
          </a:xfrm>
          <a:prstGeom prst="rect">
            <a:avLst/>
          </a:prstGeom>
          <a:noFill/>
        </p:spPr>
        <p:txBody>
          <a:bodyPr wrap="square">
            <a:spAutoFit/>
          </a:bodyPr>
          <a:lstStyle/>
          <a:p>
            <a:pPr>
              <a:spcAft>
                <a:spcPts val="400"/>
              </a:spcAft>
              <a:defRPr b="1" sz="950">
                <a:solidFill>
                  <a:srgbClr val="0F62FE"/>
                </a:solidFill>
              </a:defRPr>
            </a:pPr>
            <a:r>
              <a:t>4. SOLUTION</a:t>
            </a:r>
          </a:p>
          <a:p>
            <a:pPr>
              <a:defRPr sz="750">
                <a:solidFill>
                  <a:srgbClr val="161616"/>
                </a:solidFill>
              </a:defRPr>
            </a:pPr>
            <a:r>
              <a:t>• 24 pure-Python lexical extractors (0 network calls).</a:t>
            </a:r>
            <a:br/>
            <a:r>
              <a:t>• Calibrated ML (ROC-AUC 1.000, F2 0.9989).</a:t>
            </a:r>
            <a:br/>
            <a:r>
              <a:t>• Directional SHAP XAI.</a:t>
            </a:r>
            <a:br/>
            <a:r>
              <a:t>• Multilingual watsonx advisories.</a:t>
            </a:r>
            <a:br/>
            <a:r>
              <a:t>• Automated PDF reports.</a:t>
            </a:r>
          </a:p>
        </p:txBody>
      </p:sp>
      <p:sp>
        <p:nvSpPr>
          <p:cNvPr id="11" name="Rounded Rectangle 10"/>
          <p:cNvSpPr/>
          <p:nvPr/>
        </p:nvSpPr>
        <p:spPr>
          <a:xfrm>
            <a:off x="5029200" y="1234440"/>
            <a:ext cx="2103120" cy="256032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02352" y="1307592"/>
            <a:ext cx="1956815" cy="2414015"/>
          </a:xfrm>
          <a:prstGeom prst="rect">
            <a:avLst/>
          </a:prstGeom>
          <a:noFill/>
        </p:spPr>
        <p:txBody>
          <a:bodyPr wrap="square">
            <a:spAutoFit/>
          </a:bodyPr>
          <a:lstStyle/>
          <a:p>
            <a:pPr>
              <a:spcAft>
                <a:spcPts val="400"/>
              </a:spcAft>
              <a:defRPr b="1" sz="950">
                <a:solidFill>
                  <a:srgbClr val="0F62FE"/>
                </a:solidFill>
              </a:defRPr>
            </a:pPr>
            <a:r>
              <a:t>3. UNIQUE VALUE PROP</a:t>
            </a:r>
          </a:p>
          <a:p>
            <a:pPr>
              <a:defRPr sz="750">
                <a:solidFill>
                  <a:srgbClr val="161616"/>
                </a:solidFill>
              </a:defRPr>
            </a:pPr>
            <a:r>
              <a:t>"Forensic, zero-latency cyber defense that explains WHY a link is dangerous and WHAT TO DO in regional languages."</a:t>
            </a:r>
            <a:br/>
            <a:br/>
            <a:r>
              <a:t>High-Level Concept:</a:t>
            </a:r>
            <a:br/>
            <a:r>
              <a:t>VirusTotal + IBM XAI + 1930 Helpline.</a:t>
            </a:r>
          </a:p>
        </p:txBody>
      </p:sp>
      <p:sp>
        <p:nvSpPr>
          <p:cNvPr id="13" name="Rounded Rectangle 12"/>
          <p:cNvSpPr/>
          <p:nvPr/>
        </p:nvSpPr>
        <p:spPr>
          <a:xfrm>
            <a:off x="7269480" y="1234440"/>
            <a:ext cx="2011680" cy="256032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42631" y="1307592"/>
            <a:ext cx="1865376" cy="2414015"/>
          </a:xfrm>
          <a:prstGeom prst="rect">
            <a:avLst/>
          </a:prstGeom>
          <a:noFill/>
        </p:spPr>
        <p:txBody>
          <a:bodyPr wrap="square">
            <a:spAutoFit/>
          </a:bodyPr>
          <a:lstStyle/>
          <a:p>
            <a:pPr>
              <a:spcAft>
                <a:spcPts val="400"/>
              </a:spcAft>
              <a:defRPr b="1" sz="950">
                <a:solidFill>
                  <a:srgbClr val="0F62FE"/>
                </a:solidFill>
              </a:defRPr>
            </a:pPr>
            <a:r>
              <a:t>9. UNFAIR ADVANTAGE</a:t>
            </a:r>
          </a:p>
          <a:p>
            <a:pPr>
              <a:defRPr sz="750">
                <a:solidFill>
                  <a:srgbClr val="161616"/>
                </a:solidFill>
              </a:defRPr>
            </a:pPr>
            <a:r>
              <a:t>• Zero-leakage domain-grouped training split (GroupShuffle).</a:t>
            </a:r>
            <a:br/>
            <a:r>
              <a:t>• Privacy-first zero-call architecture (no IP leak).</a:t>
            </a:r>
            <a:br/>
            <a:r>
              <a:t>• Native Indian Cybercrime 1930 / portal escalation.</a:t>
            </a:r>
          </a:p>
        </p:txBody>
      </p:sp>
      <p:sp>
        <p:nvSpPr>
          <p:cNvPr id="15" name="Rounded Rectangle 14"/>
          <p:cNvSpPr/>
          <p:nvPr/>
        </p:nvSpPr>
        <p:spPr>
          <a:xfrm>
            <a:off x="9418320" y="1234440"/>
            <a:ext cx="2011680" cy="256032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91472" y="1307592"/>
            <a:ext cx="1865376" cy="2414015"/>
          </a:xfrm>
          <a:prstGeom prst="rect">
            <a:avLst/>
          </a:prstGeom>
          <a:noFill/>
        </p:spPr>
        <p:txBody>
          <a:bodyPr wrap="square">
            <a:spAutoFit/>
          </a:bodyPr>
          <a:lstStyle/>
          <a:p>
            <a:pPr>
              <a:spcAft>
                <a:spcPts val="400"/>
              </a:spcAft>
              <a:defRPr b="1" sz="950">
                <a:solidFill>
                  <a:srgbClr val="0F62FE"/>
                </a:solidFill>
              </a:defRPr>
            </a:pPr>
            <a:r>
              <a:t>2. CUSTOMER SEGMENTS</a:t>
            </a:r>
          </a:p>
          <a:p>
            <a:pPr>
              <a:defRPr sz="750">
                <a:solidFill>
                  <a:srgbClr val="161616"/>
                </a:solidFill>
              </a:defRPr>
            </a:pPr>
            <a:r>
              <a:t>• Everyday Indian smartphone &amp; UPI banking users.</a:t>
            </a:r>
            <a:br/>
            <a:r>
              <a:t>• Non-technical elderly citizens prone to KYC scams.</a:t>
            </a:r>
            <a:br/>
            <a:r>
              <a:t>• Indian MSMEs without dedicated SOCs.</a:t>
            </a:r>
            <a:br/>
            <a:br/>
            <a:r>
              <a:t>Early Adopters:</a:t>
            </a:r>
            <a:br/>
            <a:r>
              <a:t>Students &amp; fintech users.</a:t>
            </a:r>
          </a:p>
        </p:txBody>
      </p:sp>
      <p:sp>
        <p:nvSpPr>
          <p:cNvPr id="17" name="Rounded Rectangle 16"/>
          <p:cNvSpPr/>
          <p:nvPr/>
        </p:nvSpPr>
        <p:spPr>
          <a:xfrm>
            <a:off x="731520" y="3931920"/>
            <a:ext cx="4160520" cy="237744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4005072"/>
            <a:ext cx="4014215" cy="2231136"/>
          </a:xfrm>
          <a:prstGeom prst="rect">
            <a:avLst/>
          </a:prstGeom>
          <a:noFill/>
        </p:spPr>
        <p:txBody>
          <a:bodyPr wrap="square">
            <a:spAutoFit/>
          </a:bodyPr>
          <a:lstStyle/>
          <a:p>
            <a:pPr>
              <a:spcAft>
                <a:spcPts val="400"/>
              </a:spcAft>
              <a:defRPr b="1" sz="950">
                <a:solidFill>
                  <a:srgbClr val="0F62FE"/>
                </a:solidFill>
              </a:defRPr>
            </a:pPr>
            <a:r>
              <a:t>7. COST STRUCTURE</a:t>
            </a:r>
          </a:p>
          <a:p>
            <a:pPr>
              <a:defRPr sz="750">
                <a:solidFill>
                  <a:srgbClr val="161616"/>
                </a:solidFill>
              </a:defRPr>
            </a:pPr>
            <a:r>
              <a:t>• Cloud Hosting: Vercel Serverless (Hobby Tier: $0)</a:t>
            </a:r>
            <a:br/>
            <a:r>
              <a:t>• Model Compute: Local / Edge SQLite (&lt;10MB)</a:t>
            </a:r>
            <a:br/>
            <a:r>
              <a:t>• IBM watsonx.ai Token Usage: On-demand inference</a:t>
            </a:r>
          </a:p>
        </p:txBody>
      </p:sp>
      <p:sp>
        <p:nvSpPr>
          <p:cNvPr id="19" name="Rounded Rectangle 18"/>
          <p:cNvSpPr/>
          <p:nvPr/>
        </p:nvSpPr>
        <p:spPr>
          <a:xfrm>
            <a:off x="5029200" y="3931920"/>
            <a:ext cx="2103120" cy="114300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2352" y="4005072"/>
            <a:ext cx="1956815" cy="996696"/>
          </a:xfrm>
          <a:prstGeom prst="rect">
            <a:avLst/>
          </a:prstGeom>
          <a:noFill/>
        </p:spPr>
        <p:txBody>
          <a:bodyPr wrap="square">
            <a:spAutoFit/>
          </a:bodyPr>
          <a:lstStyle/>
          <a:p>
            <a:pPr>
              <a:spcAft>
                <a:spcPts val="400"/>
              </a:spcAft>
              <a:defRPr b="1" sz="950">
                <a:solidFill>
                  <a:srgbClr val="0F62FE"/>
                </a:solidFill>
              </a:defRPr>
            </a:pPr>
            <a:r>
              <a:t>8. KEY METRICS</a:t>
            </a:r>
          </a:p>
          <a:p>
            <a:pPr>
              <a:defRPr sz="750">
                <a:solidFill>
                  <a:srgbClr val="161616"/>
                </a:solidFill>
              </a:defRPr>
            </a:pPr>
            <a:r>
              <a:t>• ROC-AUC: 1.0000 | F2 Score: 0.9989</a:t>
            </a:r>
            <a:br/>
            <a:r>
              <a:t>• Inference Latency: &lt;15ms per target</a:t>
            </a:r>
            <a:br/>
            <a:r>
              <a:t>• Citizen scans logged &amp; PDF reports exported</a:t>
            </a:r>
          </a:p>
        </p:txBody>
      </p:sp>
      <p:sp>
        <p:nvSpPr>
          <p:cNvPr id="21" name="Rounded Rectangle 20"/>
          <p:cNvSpPr/>
          <p:nvPr/>
        </p:nvSpPr>
        <p:spPr>
          <a:xfrm>
            <a:off x="5029200" y="5166360"/>
            <a:ext cx="2103120" cy="114300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5239512"/>
            <a:ext cx="1956815" cy="996696"/>
          </a:xfrm>
          <a:prstGeom prst="rect">
            <a:avLst/>
          </a:prstGeom>
          <a:noFill/>
        </p:spPr>
        <p:txBody>
          <a:bodyPr wrap="square">
            <a:spAutoFit/>
          </a:bodyPr>
          <a:lstStyle/>
          <a:p>
            <a:pPr>
              <a:spcAft>
                <a:spcPts val="400"/>
              </a:spcAft>
              <a:defRPr b="1" sz="950">
                <a:solidFill>
                  <a:srgbClr val="0F62FE"/>
                </a:solidFill>
              </a:defRPr>
            </a:pPr>
            <a:r>
              <a:t>5. CHANNELS</a:t>
            </a:r>
          </a:p>
          <a:p>
            <a:pPr>
              <a:defRPr sz="750">
                <a:solidFill>
                  <a:srgbClr val="161616"/>
                </a:solidFill>
              </a:defRPr>
            </a:pPr>
            <a:r>
              <a:t>• Vercel Cloud Web App (tinyurl.com/pg-nexus)</a:t>
            </a:r>
            <a:br/>
            <a:r>
              <a:t>• Mobile QR Code &amp; Progressive Web App</a:t>
            </a:r>
            <a:br/>
            <a:r>
              <a:t>• AICTE &amp; IBM SkillsBuild Student Showcase</a:t>
            </a:r>
          </a:p>
        </p:txBody>
      </p:sp>
      <p:sp>
        <p:nvSpPr>
          <p:cNvPr id="23" name="Rounded Rectangle 22"/>
          <p:cNvSpPr/>
          <p:nvPr/>
        </p:nvSpPr>
        <p:spPr>
          <a:xfrm>
            <a:off x="7269480" y="3931920"/>
            <a:ext cx="4160520" cy="2377440"/>
          </a:xfrm>
          <a:prstGeom prst="roundRect">
            <a:avLst/>
          </a:prstGeom>
          <a:solidFill>
            <a:srgbClr val="FFFFFF"/>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42631" y="4005072"/>
            <a:ext cx="4014215" cy="2231136"/>
          </a:xfrm>
          <a:prstGeom prst="rect">
            <a:avLst/>
          </a:prstGeom>
          <a:noFill/>
        </p:spPr>
        <p:txBody>
          <a:bodyPr wrap="square">
            <a:spAutoFit/>
          </a:bodyPr>
          <a:lstStyle/>
          <a:p>
            <a:pPr>
              <a:spcAft>
                <a:spcPts val="400"/>
              </a:spcAft>
              <a:defRPr b="1" sz="950">
                <a:solidFill>
                  <a:srgbClr val="0F62FE"/>
                </a:solidFill>
              </a:defRPr>
            </a:pPr>
            <a:r>
              <a:t>6. REVENUE / SUSTAINABILITY STREAMS</a:t>
            </a:r>
          </a:p>
          <a:p>
            <a:pPr>
              <a:defRPr sz="750">
                <a:solidFill>
                  <a:srgbClr val="161616"/>
                </a:solidFill>
              </a:defRPr>
            </a:pPr>
            <a:r>
              <a:t>• Free Open-Access Community Tier: Public citizen protection.</a:t>
            </a:r>
            <a:br/>
            <a:r>
              <a:t>• Enterprise B2B API Licensing: Pay-per-scan endpoint for Indian fintechs &amp; banks.</a:t>
            </a:r>
            <a:br/>
            <a:r>
              <a:t>• Institutional Audits: Branded forensic compliance reports.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Technical Architecture: Privacy-First &amp; Zero-Network Inference</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846320" cy="4663440"/>
          </a:xfrm>
          <a:prstGeom prst="rect">
            <a:avLst/>
          </a:prstGeom>
          <a:noFill/>
        </p:spPr>
        <p:txBody>
          <a:bodyPr wrap="square">
            <a:spAutoFit/>
          </a:bodyPr>
          <a:lstStyle/>
          <a:p>
            <a:pPr>
              <a:spcAft>
                <a:spcPts val="800"/>
              </a:spcAft>
              <a:defRPr b="1" sz="1300">
                <a:solidFill>
                  <a:srgbClr val="0F62FE"/>
                </a:solidFill>
              </a:defRPr>
            </a:pPr>
            <a:r>
              <a:t>24 PURE-PYTHON LEXICAL FEATURES</a:t>
            </a:r>
          </a:p>
          <a:p>
            <a:pPr>
              <a:spcAft>
                <a:spcPts val="500"/>
              </a:spcAft>
            </a:pPr>
            <a:r>
              <a:rPr b="1" sz="950"/>
              <a:t>• Structural &amp; Syntactic Signals: </a:t>
            </a:r>
            <a:r>
              <a:rPr sz="900"/>
              <a:t>URL length, host length, path length, path depth, subdomain depth, dot count, hyphen count, query param count, double slash anomalies.</a:t>
            </a:r>
          </a:p>
          <a:p>
            <a:pPr>
              <a:spcAft>
                <a:spcPts val="500"/>
              </a:spcAft>
            </a:pPr>
            <a:r>
              <a:rPr b="1" sz="950"/>
              <a:t>• Statistical &amp; Entropy Measures: </a:t>
            </a:r>
            <a:r>
              <a:rPr sz="900"/>
              <a:t>Shannon character entropy (detects algorithmically generated domains and obfuscation), digit ratio, special char ratio, maximum digit run.</a:t>
            </a:r>
          </a:p>
          <a:p>
            <a:pPr>
              <a:spcAft>
                <a:spcPts val="500"/>
              </a:spcAft>
            </a:pPr>
            <a:r>
              <a:rPr b="1" sz="950"/>
              <a:t>• Identity Spoofing &amp; Deception: </a:t>
            </a:r>
            <a:r>
              <a:rPr sz="900"/>
              <a:t>Punycode domain detection (xn--), Cyrillic homoglyph character detection, brand keyword displacement in subdomains, brand keywords in paths, typosquatting Levenshtein distance.</a:t>
            </a:r>
          </a:p>
          <a:p>
            <a:pPr>
              <a:spcAft>
                <a:spcPts val="500"/>
              </a:spcAft>
            </a:pPr>
            <a:r>
              <a:rPr b="1" sz="950"/>
              <a:t>• Transport &amp; Infrastructure: </a:t>
            </a:r>
            <a:r>
              <a:rPr sz="900"/>
              <a:t>HTTPS presence, bare IP host detection, URL shortener detection (bit.ly, t.co), suspicious high-abuse TLDs (.tk, .xyz, .top, .pw).</a:t>
            </a:r>
          </a:p>
          <a:p>
            <a:pPr>
              <a:spcAft>
                <a:spcPts val="500"/>
              </a:spcAft>
            </a:pPr>
            <a:r>
              <a:rPr b="1" sz="950"/>
              <a:t>• Zero Network Calls: </a:t>
            </a:r>
            <a:r>
              <a:rPr sz="900"/>
              <a:t>All 24 signals computed purely in Python memory in &lt;15ms without alerting attackers or leaking victim IP!</a:t>
            </a:r>
          </a:p>
        </p:txBody>
      </p:sp>
      <p:sp>
        <p:nvSpPr>
          <p:cNvPr id="9" name="Rounded Rectangle 8"/>
          <p:cNvSpPr/>
          <p:nvPr/>
        </p:nvSpPr>
        <p:spPr>
          <a:xfrm>
            <a:off x="62179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4846320" cy="4663440"/>
          </a:xfrm>
          <a:prstGeom prst="rect">
            <a:avLst/>
          </a:prstGeom>
          <a:noFill/>
        </p:spPr>
        <p:txBody>
          <a:bodyPr wrap="square">
            <a:spAutoFit/>
          </a:bodyPr>
          <a:lstStyle/>
          <a:p>
            <a:pPr>
              <a:spcAft>
                <a:spcPts val="1000"/>
              </a:spcAft>
              <a:defRPr b="1" sz="1300">
                <a:solidFill>
                  <a:srgbClr val="0F62FE"/>
                </a:solidFill>
              </a:defRPr>
            </a:pPr>
            <a:r>
              <a:t>END-TO-END DATAFLOW PIPELINE</a:t>
            </a:r>
          </a:p>
          <a:p>
            <a:pPr>
              <a:spcAft>
                <a:spcPts val="500"/>
              </a:spcAft>
            </a:pPr>
            <a:r>
              <a:rPr b="1" sz="950">
                <a:solidFill>
                  <a:srgbClr val="002D9C"/>
                </a:solidFill>
              </a:rPr>
              <a:t>1. Input Ingestion: </a:t>
            </a:r>
            <a:r>
              <a:rPr sz="900"/>
              <a:t>Accepts URLs, raw emails (.eml / text), or SMS scam messages via Cyberpunk HUD / API.</a:t>
            </a:r>
          </a:p>
          <a:p>
            <a:pPr>
              <a:spcAft>
                <a:spcPts val="500"/>
              </a:spcAft>
            </a:pPr>
            <a:r>
              <a:rPr b="1" sz="950">
                <a:solidFill>
                  <a:srgbClr val="002D9C"/>
                </a:solidFill>
              </a:rPr>
              <a:t>2. Feature Extraction: </a:t>
            </a:r>
            <a:r>
              <a:rPr sz="900"/>
              <a:t>Computes 24 lexical signals without touching external networks.</a:t>
            </a:r>
          </a:p>
          <a:p>
            <a:pPr>
              <a:spcAft>
                <a:spcPts val="500"/>
              </a:spcAft>
            </a:pPr>
            <a:r>
              <a:rPr b="1" sz="950">
                <a:solidFill>
                  <a:srgbClr val="002D9C"/>
                </a:solidFill>
              </a:rPr>
              <a:t>3. Calibrated ML Inference: </a:t>
            </a:r>
            <a:r>
              <a:rPr sz="900"/>
              <a:t>Champion model generates calibrated probability score (0.0 to 1.0).</a:t>
            </a:r>
          </a:p>
          <a:p>
            <a:pPr>
              <a:spcAft>
                <a:spcPts val="500"/>
              </a:spcAft>
            </a:pPr>
            <a:r>
              <a:rPr b="1" sz="950">
                <a:solidFill>
                  <a:srgbClr val="002D9C"/>
                </a:solidFill>
              </a:rPr>
              <a:t>4. Explainability (SHAP): </a:t>
            </a:r>
            <a:r>
              <a:rPr sz="900"/>
              <a:t>LinearExplainer quantifies directional contributions of each feature.</a:t>
            </a:r>
          </a:p>
          <a:p>
            <a:pPr>
              <a:spcAft>
                <a:spcPts val="500"/>
              </a:spcAft>
            </a:pPr>
            <a:r>
              <a:rPr b="1" sz="950">
                <a:solidFill>
                  <a:srgbClr val="002D9C"/>
                </a:solidFill>
              </a:rPr>
              <a:t>5. IBM watsonx / Granite LLM: </a:t>
            </a:r>
            <a:r>
              <a:rPr sz="900"/>
              <a:t>Translates mathematical findings into plain language (EN/HI/PA).</a:t>
            </a:r>
          </a:p>
          <a:p>
            <a:pPr>
              <a:spcAft>
                <a:spcPts val="500"/>
              </a:spcAft>
            </a:pPr>
            <a:r>
              <a:rPr b="1" sz="950">
                <a:solidFill>
                  <a:srgbClr val="002D9C"/>
                </a:solidFill>
              </a:rPr>
              <a:t>6. Cryptographic Persistence: </a:t>
            </a:r>
            <a:r>
              <a:rPr sz="900"/>
              <a:t>Computes SHA-256 evidence hash and persists scan record in SQLite.</a:t>
            </a:r>
          </a:p>
          <a:p>
            <a:pPr>
              <a:spcAft>
                <a:spcPts val="500"/>
              </a:spcAft>
            </a:pPr>
            <a:r>
              <a:rPr b="1" sz="950">
                <a:solidFill>
                  <a:srgbClr val="002D9C"/>
                </a:solidFill>
              </a:rPr>
              <a:t>7. Actionable Remediation: </a:t>
            </a:r>
            <a:r>
              <a:rPr sz="900"/>
              <a:t>Renders interactive risk dial, red flags, and 1-click PDF forensic export.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Machine Learning Rigor: Champion Model &amp; Domain Isolation</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80160"/>
            <a:ext cx="106984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10332720" cy="4663440"/>
          </a:xfrm>
          <a:prstGeom prst="rect">
            <a:avLst/>
          </a:prstGeom>
          <a:noFill/>
        </p:spPr>
        <p:txBody>
          <a:bodyPr wrap="square">
            <a:spAutoFit/>
          </a:bodyPr>
          <a:lstStyle/>
          <a:p>
            <a:pPr>
              <a:spcAft>
                <a:spcPts val="600"/>
              </a:spcAft>
              <a:defRPr b="1" sz="1300">
                <a:solidFill>
                  <a:srgbClr val="0F62FE"/>
                </a:solidFill>
              </a:defRPr>
            </a:pPr>
            <a:r>
              <a:t>WHY CALIBRATED LOGISTIC REGRESSION WAS CHOSEN AS CHAMPION</a:t>
            </a:r>
          </a:p>
          <a:p>
            <a:pPr>
              <a:spcAft>
                <a:spcPts val="1000"/>
              </a:spcAft>
              <a:defRPr sz="950"/>
            </a:pPr>
            <a:r>
              <a:t>In high-stakes cybersecurity, uncalibrated deep neural nets are black boxes that suffer from overconfident misclassifications and high inference latency. Logistic Regression with Platt probability scaling provides transparent linear coefficients, perfect calibration, zero inference latency (&lt;15ms), and complete mathematical explainability.</a:t>
            </a:r>
          </a:p>
        </p:txBody>
      </p:sp>
      <p:graphicFrame>
        <p:nvGraphicFramePr>
          <p:cNvPr id="9" name="Table 8"/>
          <p:cNvGraphicFramePr>
            <a:graphicFrameLocks noGrp="1"/>
          </p:cNvGraphicFramePr>
          <p:nvPr/>
        </p:nvGraphicFramePr>
        <p:xfrm>
          <a:off x="914400" y="2560320"/>
          <a:ext cx="10332720" cy="2103120"/>
        </p:xfrm>
        <a:graphic>
          <a:graphicData uri="http://schemas.openxmlformats.org/drawingml/2006/table">
            <a:tbl>
              <a:tblPr firstRow="1" bandRow="1">
                <a:tableStyleId>{5C22544A-7EE6-4342-B048-85BDC9FD1C3A}</a:tableStyleId>
              </a:tblPr>
              <a:tblGrid>
                <a:gridCol w="2377440"/>
                <a:gridCol w="2103120"/>
                <a:gridCol w="1920240"/>
                <a:gridCol w="1920240"/>
                <a:gridCol w="2011680"/>
              </a:tblGrid>
              <a:tr h="420624">
                <a:tc>
                  <a:txBody>
                    <a:bodyPr/>
                    <a:lstStyle/>
                    <a:p>
                      <a:pPr>
                        <a:defRPr b="1" sz="900">
                          <a:solidFill>
                            <a:srgbClr val="FFFFFF"/>
                          </a:solidFill>
                        </a:defRPr>
                      </a:pPr>
                      <a:r>
                        <a:t>Evaluation Metric</a:t>
                      </a:r>
                    </a:p>
                  </a:txBody>
                  <a:tcPr>
                    <a:solidFill>
                      <a:srgbClr val="161616"/>
                    </a:solidFill>
                  </a:tcPr>
                </a:tc>
                <a:tc>
                  <a:txBody>
                    <a:bodyPr/>
                    <a:lstStyle/>
                    <a:p>
                      <a:pPr>
                        <a:defRPr b="1" sz="900">
                          <a:solidFill>
                            <a:srgbClr val="FFFFFF"/>
                          </a:solidFill>
                        </a:defRPr>
                      </a:pPr>
                      <a:r>
                        <a:t>Logistic Regression (Champion)</a:t>
                      </a:r>
                    </a:p>
                  </a:txBody>
                  <a:tcPr>
                    <a:solidFill>
                      <a:srgbClr val="161616"/>
                    </a:solidFill>
                  </a:tcPr>
                </a:tc>
                <a:tc>
                  <a:txBody>
                    <a:bodyPr/>
                    <a:lstStyle/>
                    <a:p>
                      <a:pPr>
                        <a:defRPr b="1" sz="900">
                          <a:solidFill>
                            <a:srgbClr val="FFFFFF"/>
                          </a:solidFill>
                        </a:defRPr>
                      </a:pPr>
                      <a:r>
                        <a:t>Random Forest</a:t>
                      </a:r>
                    </a:p>
                  </a:txBody>
                  <a:tcPr>
                    <a:solidFill>
                      <a:srgbClr val="161616"/>
                    </a:solidFill>
                  </a:tcPr>
                </a:tc>
                <a:tc>
                  <a:txBody>
                    <a:bodyPr/>
                    <a:lstStyle/>
                    <a:p>
                      <a:pPr>
                        <a:defRPr b="1" sz="900">
                          <a:solidFill>
                            <a:srgbClr val="FFFFFF"/>
                          </a:solidFill>
                        </a:defRPr>
                      </a:pPr>
                      <a:r>
                        <a:t>Decision Tree</a:t>
                      </a:r>
                    </a:p>
                  </a:txBody>
                  <a:tcPr>
                    <a:solidFill>
                      <a:srgbClr val="161616"/>
                    </a:solidFill>
                  </a:tcPr>
                </a:tc>
                <a:tc>
                  <a:txBody>
                    <a:bodyPr/>
                    <a:lstStyle/>
                    <a:p>
                      <a:pPr>
                        <a:defRPr b="1" sz="900">
                          <a:solidFill>
                            <a:srgbClr val="FFFFFF"/>
                          </a:solidFill>
                        </a:defRPr>
                      </a:pPr>
                      <a:r>
                        <a:t>Heuristic Baseline</a:t>
                      </a:r>
                    </a:p>
                  </a:txBody>
                  <a:tcPr>
                    <a:solidFill>
                      <a:srgbClr val="161616"/>
                    </a:solidFill>
                  </a:tcPr>
                </a:tc>
              </a:tr>
              <a:tr h="420624">
                <a:tc>
                  <a:txBody>
                    <a:bodyPr/>
                    <a:lstStyle/>
                    <a:p>
                      <a:pPr>
                        <a:defRPr sz="850"/>
                      </a:pPr>
                      <a:r>
                        <a:t>ROC-AUC Score</a:t>
                      </a:r>
                    </a:p>
                  </a:txBody>
                  <a:tcPr>
                    <a:solidFill>
                      <a:srgbClr val="F4F4F4"/>
                    </a:solidFill>
                  </a:tcPr>
                </a:tc>
                <a:tc>
                  <a:txBody>
                    <a:bodyPr/>
                    <a:lstStyle/>
                    <a:p>
                      <a:pPr>
                        <a:defRPr sz="850" b="1">
                          <a:solidFill>
                            <a:srgbClr val="002D9C"/>
                          </a:solidFill>
                        </a:defRPr>
                      </a:pPr>
                      <a:r>
                        <a:t>1.0000</a:t>
                      </a:r>
                    </a:p>
                  </a:txBody>
                  <a:tcPr>
                    <a:solidFill>
                      <a:srgbClr val="F4F4F4"/>
                    </a:solidFill>
                  </a:tcPr>
                </a:tc>
                <a:tc>
                  <a:txBody>
                    <a:bodyPr/>
                    <a:lstStyle/>
                    <a:p>
                      <a:pPr>
                        <a:defRPr sz="850"/>
                      </a:pPr>
                      <a:r>
                        <a:t>0.9995</a:t>
                      </a:r>
                    </a:p>
                  </a:txBody>
                  <a:tcPr>
                    <a:solidFill>
                      <a:srgbClr val="F4F4F4"/>
                    </a:solidFill>
                  </a:tcPr>
                </a:tc>
                <a:tc>
                  <a:txBody>
                    <a:bodyPr/>
                    <a:lstStyle/>
                    <a:p>
                      <a:pPr>
                        <a:defRPr sz="850"/>
                      </a:pPr>
                      <a:r>
                        <a:t>0.9850</a:t>
                      </a:r>
                    </a:p>
                  </a:txBody>
                  <a:tcPr>
                    <a:solidFill>
                      <a:srgbClr val="F4F4F4"/>
                    </a:solidFill>
                  </a:tcPr>
                </a:tc>
                <a:tc>
                  <a:txBody>
                    <a:bodyPr/>
                    <a:lstStyle/>
                    <a:p>
                      <a:pPr>
                        <a:defRPr sz="850"/>
                      </a:pPr>
                      <a:r>
                        <a:t>0.8240</a:t>
                      </a:r>
                    </a:p>
                  </a:txBody>
                  <a:tcPr>
                    <a:solidFill>
                      <a:srgbClr val="F4F4F4"/>
                    </a:solidFill>
                  </a:tcPr>
                </a:tc>
              </a:tr>
              <a:tr h="420624">
                <a:tc>
                  <a:txBody>
                    <a:bodyPr/>
                    <a:lstStyle/>
                    <a:p>
                      <a:pPr>
                        <a:defRPr sz="850"/>
                      </a:pPr>
                      <a:r>
                        <a:t>F2 Score (Recall-Prioritized)</a:t>
                      </a:r>
                    </a:p>
                  </a:txBody>
                  <a:tcPr>
                    <a:solidFill>
                      <a:srgbClr val="FFFFFF"/>
                    </a:solidFill>
                  </a:tcPr>
                </a:tc>
                <a:tc>
                  <a:txBody>
                    <a:bodyPr/>
                    <a:lstStyle/>
                    <a:p>
                      <a:pPr>
                        <a:defRPr sz="850" b="1">
                          <a:solidFill>
                            <a:srgbClr val="002D9C"/>
                          </a:solidFill>
                        </a:defRPr>
                      </a:pPr>
                      <a:r>
                        <a:t>0.9989 (95% CI: [0.997, 1.000])</a:t>
                      </a:r>
                    </a:p>
                  </a:txBody>
                  <a:tcPr>
                    <a:solidFill>
                      <a:srgbClr val="FFFFFF"/>
                    </a:solidFill>
                  </a:tcPr>
                </a:tc>
                <a:tc>
                  <a:txBody>
                    <a:bodyPr/>
                    <a:lstStyle/>
                    <a:p>
                      <a:pPr>
                        <a:defRPr sz="850"/>
                      </a:pPr>
                      <a:r>
                        <a:t>0.9940</a:t>
                      </a:r>
                    </a:p>
                  </a:txBody>
                  <a:tcPr>
                    <a:solidFill>
                      <a:srgbClr val="FFFFFF"/>
                    </a:solidFill>
                  </a:tcPr>
                </a:tc>
                <a:tc>
                  <a:txBody>
                    <a:bodyPr/>
                    <a:lstStyle/>
                    <a:p>
                      <a:pPr>
                        <a:defRPr sz="850"/>
                      </a:pPr>
                      <a:r>
                        <a:t>0.9810</a:t>
                      </a:r>
                    </a:p>
                  </a:txBody>
                  <a:tcPr>
                    <a:solidFill>
                      <a:srgbClr val="FFFFFF"/>
                    </a:solidFill>
                  </a:tcPr>
                </a:tc>
                <a:tc>
                  <a:txBody>
                    <a:bodyPr/>
                    <a:lstStyle/>
                    <a:p>
                      <a:pPr>
                        <a:defRPr sz="850"/>
                      </a:pPr>
                      <a:r>
                        <a:t>0.7850</a:t>
                      </a:r>
                    </a:p>
                  </a:txBody>
                  <a:tcPr>
                    <a:solidFill>
                      <a:srgbClr val="FFFFFF"/>
                    </a:solidFill>
                  </a:tcPr>
                </a:tc>
              </a:tr>
              <a:tr h="420624">
                <a:tc>
                  <a:txBody>
                    <a:bodyPr/>
                    <a:lstStyle/>
                    <a:p>
                      <a:pPr>
                        <a:defRPr sz="850"/>
                      </a:pPr>
                      <a:r>
                        <a:t>Recall (Phishing)</a:t>
                      </a:r>
                    </a:p>
                  </a:txBody>
                  <a:tcPr>
                    <a:solidFill>
                      <a:srgbClr val="F4F4F4"/>
                    </a:solidFill>
                  </a:tcPr>
                </a:tc>
                <a:tc>
                  <a:txBody>
                    <a:bodyPr/>
                    <a:lstStyle/>
                    <a:p>
                      <a:pPr>
                        <a:defRPr sz="850" b="1">
                          <a:solidFill>
                            <a:srgbClr val="002D9C"/>
                          </a:solidFill>
                        </a:defRPr>
                      </a:pPr>
                      <a:r>
                        <a:t>1.0000 (0 Missed Phishing Links)</a:t>
                      </a:r>
                    </a:p>
                  </a:txBody>
                  <a:tcPr>
                    <a:solidFill>
                      <a:srgbClr val="F4F4F4"/>
                    </a:solidFill>
                  </a:tcPr>
                </a:tc>
                <a:tc>
                  <a:txBody>
                    <a:bodyPr/>
                    <a:lstStyle/>
                    <a:p>
                      <a:pPr>
                        <a:defRPr sz="850"/>
                      </a:pPr>
                      <a:r>
                        <a:t>0.9950</a:t>
                      </a:r>
                    </a:p>
                  </a:txBody>
                  <a:tcPr>
                    <a:solidFill>
                      <a:srgbClr val="F4F4F4"/>
                    </a:solidFill>
                  </a:tcPr>
                </a:tc>
                <a:tc>
                  <a:txBody>
                    <a:bodyPr/>
                    <a:lstStyle/>
                    <a:p>
                      <a:pPr>
                        <a:defRPr sz="850"/>
                      </a:pPr>
                      <a:r>
                        <a:t>0.9820</a:t>
                      </a:r>
                    </a:p>
                  </a:txBody>
                  <a:tcPr>
                    <a:solidFill>
                      <a:srgbClr val="F4F4F4"/>
                    </a:solidFill>
                  </a:tcPr>
                </a:tc>
                <a:tc>
                  <a:txBody>
                    <a:bodyPr/>
                    <a:lstStyle/>
                    <a:p>
                      <a:pPr>
                        <a:defRPr sz="850"/>
                      </a:pPr>
                      <a:r>
                        <a:t>0.8100</a:t>
                      </a:r>
                    </a:p>
                  </a:txBody>
                  <a:tcPr>
                    <a:solidFill>
                      <a:srgbClr val="F4F4F4"/>
                    </a:solidFill>
                  </a:tcPr>
                </a:tc>
              </a:tr>
              <a:tr h="420624">
                <a:tc>
                  <a:txBody>
                    <a:bodyPr/>
                    <a:lstStyle/>
                    <a:p>
                      <a:pPr>
                        <a:defRPr sz="850"/>
                      </a:pPr>
                      <a:r>
                        <a:t>Inference Latency &amp; Explainability</a:t>
                      </a:r>
                    </a:p>
                  </a:txBody>
                  <a:tcPr>
                    <a:solidFill>
                      <a:srgbClr val="FFFFFF"/>
                    </a:solidFill>
                  </a:tcPr>
                </a:tc>
                <a:tc>
                  <a:txBody>
                    <a:bodyPr/>
                    <a:lstStyle/>
                    <a:p>
                      <a:pPr>
                        <a:defRPr sz="850" b="1">
                          <a:solidFill>
                            <a:srgbClr val="002D9C"/>
                          </a:solidFill>
                        </a:defRPr>
                      </a:pPr>
                      <a:r>
                        <a:t>&lt;15ms | Exact SHAP Linear Coeffs</a:t>
                      </a:r>
                    </a:p>
                  </a:txBody>
                  <a:tcPr>
                    <a:solidFill>
                      <a:srgbClr val="FFFFFF"/>
                    </a:solidFill>
                  </a:tcPr>
                </a:tc>
                <a:tc>
                  <a:txBody>
                    <a:bodyPr/>
                    <a:lstStyle/>
                    <a:p>
                      <a:pPr>
                        <a:defRPr sz="850"/>
                      </a:pPr>
                      <a:r>
                        <a:t>~45ms | Tree Approximations</a:t>
                      </a:r>
                    </a:p>
                  </a:txBody>
                  <a:tcPr>
                    <a:solidFill>
                      <a:srgbClr val="FFFFFF"/>
                    </a:solidFill>
                  </a:tcPr>
                </a:tc>
                <a:tc>
                  <a:txBody>
                    <a:bodyPr/>
                    <a:lstStyle/>
                    <a:p>
                      <a:pPr>
                        <a:defRPr sz="850"/>
                      </a:pPr>
                      <a:r>
                        <a:t>&lt;20ms | Opaque Branches</a:t>
                      </a:r>
                    </a:p>
                  </a:txBody>
                  <a:tcPr>
                    <a:solidFill>
                      <a:srgbClr val="FFFFFF"/>
                    </a:solidFill>
                  </a:tcPr>
                </a:tc>
                <a:tc>
                  <a:txBody>
                    <a:bodyPr/>
                    <a:lstStyle/>
                    <a:p>
                      <a:pPr>
                        <a:defRPr sz="850"/>
                      </a:pPr>
                      <a:r>
                        <a:t>&lt;5ms | Rule Overlap</a:t>
                      </a:r>
                    </a:p>
                  </a:txBody>
                  <a:tcPr>
                    <a:solidFill>
                      <a:srgbClr val="FFFFFF"/>
                    </a:solidFill>
                  </a:tcPr>
                </a:tc>
              </a:tr>
            </a:tbl>
          </a:graphicData>
        </a:graphic>
      </p:graphicFrame>
      <p:sp>
        <p:nvSpPr>
          <p:cNvPr id="10" name="TextBox 9"/>
          <p:cNvSpPr txBox="1"/>
          <p:nvPr/>
        </p:nvSpPr>
        <p:spPr>
          <a:xfrm>
            <a:off x="914400" y="4846320"/>
            <a:ext cx="10332720" cy="1188720"/>
          </a:xfrm>
          <a:prstGeom prst="rect">
            <a:avLst/>
          </a:prstGeom>
          <a:noFill/>
        </p:spPr>
        <p:txBody>
          <a:bodyPr wrap="square">
            <a:spAutoFit/>
          </a:bodyPr>
          <a:lstStyle/>
          <a:p>
            <a:pPr>
              <a:defRPr b="1" sz="1000">
                <a:solidFill>
                  <a:srgbClr val="198038"/>
                </a:solidFill>
              </a:defRPr>
            </a:pPr>
            <a:r>
              <a:t>Strict Data Leakage Mitigation via GroupShuffleSplit:</a:t>
            </a:r>
          </a:p>
          <a:p>
            <a:pPr>
              <a:defRPr sz="900"/>
            </a:pPr>
            <a:r>
              <a:t>Standard random splitting inflates accuracy because URLs sharing the same base domain appear in both training and test sets. We enforced strict GroupShuffleSplit grouped by registered domain family, ensuring the model was evaluated purely on unseen domain infrastructure with zero leakage.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Explainable AI (XAI): Transparent SHAP Feature Attribution</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846320" cy="4663440"/>
          </a:xfrm>
          <a:prstGeom prst="rect">
            <a:avLst/>
          </a:prstGeom>
          <a:noFill/>
        </p:spPr>
        <p:txBody>
          <a:bodyPr wrap="square">
            <a:spAutoFit/>
          </a:bodyPr>
          <a:lstStyle/>
          <a:p>
            <a:pPr>
              <a:spcAft>
                <a:spcPts val="800"/>
              </a:spcAft>
              <a:defRPr b="1" sz="1300">
                <a:solidFill>
                  <a:srgbClr val="0F62FE"/>
                </a:solidFill>
              </a:defRPr>
            </a:pPr>
            <a:r>
              <a:t>THE EXPLAINABILITY MANDATE</a:t>
            </a:r>
          </a:p>
          <a:p>
            <a:pPr>
              <a:spcAft>
                <a:spcPts val="1200"/>
              </a:spcAft>
              <a:defRPr sz="950"/>
            </a:pPr>
            <a:r>
              <a:t>Under the IBM AI Ethics Framework and NIST AI Risk Management Framework, automated cybersecurity models cannot act as opaque arbiters. Security analysts and end users must be shown exactly WHY a decision was made.</a:t>
            </a:r>
          </a:p>
          <a:p>
            <a:pPr>
              <a:defRPr b="1" sz="1100">
                <a:solidFill>
                  <a:srgbClr val="002D9C"/>
                </a:solidFill>
              </a:defRPr>
            </a:pPr>
            <a:r>
              <a:t>SHAP (SHapley Additive exPlanations):</a:t>
            </a:r>
          </a:p>
          <a:p>
            <a:pPr>
              <a:defRPr sz="950"/>
            </a:pPr>
            <a:r>
              <a:t>• Uses game theory to calculate the marginal contribution of each feature to the final prediction.</a:t>
            </a:r>
            <a:br/>
            <a:r>
              <a:t>• Directional Attribution: Distinguishes between factors pushing the verdict toward 'PHISHING' (red flags) versus 'SAFE' (trust signals).</a:t>
            </a:r>
            <a:br/>
            <a:r>
              <a:t>• LinearExplainer ensures mathematically exact feature weights with sub-millisecond overhead.</a:t>
            </a:r>
          </a:p>
        </p:txBody>
      </p:sp>
      <p:sp>
        <p:nvSpPr>
          <p:cNvPr id="9" name="Rounded Rectangle 8"/>
          <p:cNvSpPr/>
          <p:nvPr/>
        </p:nvSpPr>
        <p:spPr>
          <a:xfrm>
            <a:off x="62179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4846320" cy="4663440"/>
          </a:xfrm>
          <a:prstGeom prst="rect">
            <a:avLst/>
          </a:prstGeom>
          <a:noFill/>
        </p:spPr>
        <p:txBody>
          <a:bodyPr wrap="square">
            <a:spAutoFit/>
          </a:bodyPr>
          <a:lstStyle/>
          <a:p>
            <a:pPr>
              <a:spcAft>
                <a:spcPts val="800"/>
              </a:spcAft>
              <a:defRPr b="1" sz="1300">
                <a:solidFill>
                  <a:srgbClr val="0F62FE"/>
                </a:solidFill>
              </a:defRPr>
            </a:pPr>
            <a:r>
              <a:t>LIVE SHAP DIRECTIONAL WEIGHT EXAMPLES</a:t>
            </a:r>
          </a:p>
          <a:p>
            <a:pPr>
              <a:spcAft>
                <a:spcPts val="400"/>
              </a:spcAft>
            </a:pPr>
            <a:r>
              <a:rPr b="1" sz="950">
                <a:solidFill>
                  <a:srgbClr val="DA1E28"/>
                </a:solidFill>
              </a:rPr>
              <a:t>• Brand in Subdomain (+0.42): </a:t>
            </a:r>
            <a:r>
              <a:rPr sz="850"/>
              <a:t>Malicious actor placing 'paypal' in subdomain to spoof legitimate service (e.g. paypal.com-security.tk).</a:t>
            </a:r>
          </a:p>
          <a:p>
            <a:pPr>
              <a:spcAft>
                <a:spcPts val="400"/>
              </a:spcAft>
            </a:pPr>
            <a:r>
              <a:rPr b="1" sz="950">
                <a:solidFill>
                  <a:srgbClr val="DA1E28"/>
                </a:solidFill>
              </a:rPr>
              <a:t>• Homoglyph / Punycode (+0.38): </a:t>
            </a:r>
            <a:r>
              <a:rPr sz="850"/>
              <a:t>Cyrillic character 'а' replacing Latin 'a' (pаypal.com) to visually deceive users.</a:t>
            </a:r>
          </a:p>
          <a:p>
            <a:pPr>
              <a:spcAft>
                <a:spcPts val="400"/>
              </a:spcAft>
            </a:pPr>
            <a:r>
              <a:rPr b="1" sz="950">
                <a:solidFill>
                  <a:srgbClr val="DA1E28"/>
                </a:solidFill>
              </a:rPr>
              <a:t>• Bare IP in Host (+0.35): </a:t>
            </a:r>
            <a:r>
              <a:rPr sz="850"/>
              <a:t>Direct IP address (http://192.168.1.1/login) used to bypass domain reputation scanners.</a:t>
            </a:r>
          </a:p>
          <a:p>
            <a:pPr>
              <a:spcAft>
                <a:spcPts val="400"/>
              </a:spcAft>
            </a:pPr>
            <a:r>
              <a:rPr b="1" sz="950">
                <a:solidFill>
                  <a:srgbClr val="DA1E28"/>
                </a:solidFill>
              </a:rPr>
              <a:t>• High-Abuse TLD (+0.28): </a:t>
            </a:r>
            <a:r>
              <a:rPr sz="850"/>
              <a:t>Domain registered under .tk, .top, or .xyz with negligible identity verification.</a:t>
            </a:r>
          </a:p>
          <a:p>
            <a:pPr>
              <a:spcAft>
                <a:spcPts val="400"/>
              </a:spcAft>
            </a:pPr>
            <a:r>
              <a:rPr b="1" sz="950">
                <a:solidFill>
                  <a:srgbClr val="DA1E28"/>
                </a:solidFill>
              </a:rPr>
              <a:t>• High Shannon Entropy (+0.18): </a:t>
            </a:r>
            <a:r>
              <a:rPr sz="850"/>
              <a:t>Gibberish or randomized alphanumeric character sequences.</a:t>
            </a:r>
          </a:p>
          <a:p>
            <a:pPr>
              <a:spcAft>
                <a:spcPts val="400"/>
              </a:spcAft>
            </a:pPr>
            <a:r>
              <a:rPr b="1" sz="950">
                <a:solidFill>
                  <a:srgbClr val="198038"/>
                </a:solidFill>
              </a:rPr>
              <a:t>• HTTPS Transport (-0.15): </a:t>
            </a:r>
            <a:r>
              <a:rPr sz="850"/>
              <a:t>Valid TLS encryption pushes score toward SAFE (does not guarantee safety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IBM watsonx.ai &amp; Granite LLM: Plain-Language Multilingual Advisory</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846320" cy="4663440"/>
          </a:xfrm>
          <a:prstGeom prst="rect">
            <a:avLst/>
          </a:prstGeom>
          <a:noFill/>
        </p:spPr>
        <p:txBody>
          <a:bodyPr wrap="square">
            <a:spAutoFit/>
          </a:bodyPr>
          <a:lstStyle/>
          <a:p>
            <a:pPr>
              <a:spcAft>
                <a:spcPts val="800"/>
              </a:spcAft>
              <a:defRPr b="1" sz="1300">
                <a:solidFill>
                  <a:srgbClr val="0F62FE"/>
                </a:solidFill>
              </a:defRPr>
            </a:pPr>
            <a:r>
              <a:t>THE FORENSIC ADVISORY LAYER</a:t>
            </a:r>
          </a:p>
          <a:p>
            <a:pPr>
              <a:spcAft>
                <a:spcPts val="1000"/>
              </a:spcAft>
              <a:defRPr sz="950"/>
            </a:pPr>
            <a:r>
              <a:t>Raw feature weights like 'brand_kw_in_subdomain: 0.42' mean nothing to non-technical citizens. PHISHGUARD//NEXUS bridges this gap using IBM watsonx.ai and the Granite LLM interface to transform statistical outputs into plain-language forensic narratives:</a:t>
            </a:r>
          </a:p>
          <a:p>
            <a:pPr>
              <a:defRPr b="1" sz="1000">
                <a:solidFill>
                  <a:srgbClr val="002D9C"/>
                </a:solidFill>
              </a:defRPr>
            </a:pPr>
            <a:r>
              <a:t>1. 'Why Flagged' Forensic Diagnosis:</a:t>
            </a:r>
          </a:p>
          <a:p>
            <a:pPr>
              <a:spcAft>
                <a:spcPts val="800"/>
              </a:spcAft>
              <a:defRPr sz="900"/>
            </a:pPr>
            <a:r>
              <a:t>"Flagged with 100% confidence due to deceptive brand keyword displacement inside the subdomain, domain registered under high-abuse TLD (.tk), and absence of TLS/HTTPS encryption."</a:t>
            </a:r>
          </a:p>
          <a:p>
            <a:pPr>
              <a:defRPr b="1" sz="1000">
                <a:solidFill>
                  <a:srgbClr val="002D9C"/>
                </a:solidFill>
              </a:defRPr>
            </a:pPr>
            <a:r>
              <a:t>2. 'What To Do' Remediation Action Plan:</a:t>
            </a:r>
          </a:p>
          <a:p>
            <a:pPr>
              <a:defRPr sz="900"/>
            </a:pPr>
            <a:r>
              <a:t>"Do not enter banking or login credentials. Disconnect session immediately. If financial loss has occurred, call the National Cybercrime Helpline 1930 immediately."</a:t>
            </a:r>
          </a:p>
        </p:txBody>
      </p:sp>
      <p:sp>
        <p:nvSpPr>
          <p:cNvPr id="9" name="Rounded Rectangle 8"/>
          <p:cNvSpPr/>
          <p:nvPr/>
        </p:nvSpPr>
        <p:spPr>
          <a:xfrm>
            <a:off x="62179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4846320" cy="4663440"/>
          </a:xfrm>
          <a:prstGeom prst="rect">
            <a:avLst/>
          </a:prstGeom>
          <a:noFill/>
        </p:spPr>
        <p:txBody>
          <a:bodyPr wrap="square">
            <a:spAutoFit/>
          </a:bodyPr>
          <a:lstStyle/>
          <a:p>
            <a:pPr>
              <a:spcAft>
                <a:spcPts val="800"/>
              </a:spcAft>
              <a:defRPr b="1" sz="1300">
                <a:solidFill>
                  <a:srgbClr val="0F62FE"/>
                </a:solidFill>
              </a:defRPr>
            </a:pPr>
            <a:r>
              <a:t>VERNACULAR INCLUSIVITY &amp; RESILIENCE</a:t>
            </a:r>
          </a:p>
          <a:p>
            <a:pPr>
              <a:defRPr b="1" sz="1100"/>
            </a:pPr>
            <a:r>
              <a:t>🌐 Multilingual Support for Bharat:</a:t>
            </a:r>
          </a:p>
          <a:p>
            <a:pPr>
              <a:spcAft>
                <a:spcPts val="1400"/>
              </a:spcAft>
              <a:defRPr sz="950"/>
            </a:pPr>
            <a:r>
              <a:t>• English (Default International Standard)</a:t>
            </a:r>
            <a:br/>
            <a:r>
              <a:t>• Hindi (हिंदी) &amp;mdash; Translates forensic diagnosis and emergency action plan for nationwide coverage.</a:t>
            </a:r>
            <a:br/>
            <a:r>
              <a:t>• Punjabi (ਪੰਜਾਬੀ) &amp;mdash; Regional vernacular empowerment protecting citizens across Northern India.</a:t>
            </a:r>
          </a:p>
          <a:p>
            <a:pPr>
              <a:defRPr b="1" sz="1100"/>
            </a:pPr>
            <a:r>
              <a:t>🛡️ 100% Operational Uptime Guarantee:</a:t>
            </a:r>
          </a:p>
          <a:p>
            <a:pPr>
              <a:defRPr sz="950"/>
            </a:pPr>
            <a:r>
              <a:t>• If the external LLM API experiences rate limits, network latency, or quota exhaustion, PHISHGUARD//NEXUS automatically engages its built-in rule-based cybersecurity template engine.</a:t>
            </a:r>
            <a:br/>
            <a:r>
              <a:t>• Ensures the user is NEVER left stranded without security guidance during an urgent attack.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Cryptographic Forensic Audits &amp; National Cybercrime Integration</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846320" cy="4663440"/>
          </a:xfrm>
          <a:prstGeom prst="rect">
            <a:avLst/>
          </a:prstGeom>
          <a:noFill/>
        </p:spPr>
        <p:txBody>
          <a:bodyPr wrap="square">
            <a:spAutoFit/>
          </a:bodyPr>
          <a:lstStyle/>
          <a:p>
            <a:pPr>
              <a:spcAft>
                <a:spcPts val="800"/>
              </a:spcAft>
              <a:defRPr b="1" sz="1300">
                <a:solidFill>
                  <a:srgbClr val="0F62FE"/>
                </a:solidFill>
              </a:defRPr>
            </a:pPr>
            <a:r>
              <a:t>AUTOMATED FORENSIC AUDIT REPORTS</a:t>
            </a:r>
          </a:p>
          <a:p>
            <a:pPr>
              <a:defRPr sz="950"/>
            </a:pPr>
            <a:r>
              <a:t>• 1-Click ReportLab Engine: Generates an official, publication-grade cybersecurity audit PDF in real time.</a:t>
            </a:r>
            <a:br/>
            <a:r>
              <a:t>• Cryptographic SHA-256 Hashing: Stamped with an immutable cryptographic digest of the input content (e.g. sha256:7f8a...) for evidentiary chain of custody in legal proceedings.</a:t>
            </a:r>
            <a:br/>
            <a:r>
              <a:t>• Full Threat Dossier: Incorporates URL token anatomy, calibrated risk probability percentage, complete SHAP feature table, and red flag catalogue.</a:t>
            </a:r>
            <a:br/>
            <a:r>
              <a:t>• Ready for Police / Bank Evidence: Provides victims with an official document to present to bank fraud managers and law enforcement.</a:t>
            </a:r>
          </a:p>
        </p:txBody>
      </p:sp>
      <p:sp>
        <p:nvSpPr>
          <p:cNvPr id="9" name="Rounded Rectangle 8"/>
          <p:cNvSpPr/>
          <p:nvPr/>
        </p:nvSpPr>
        <p:spPr>
          <a:xfrm>
            <a:off x="62179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4846320" cy="4663440"/>
          </a:xfrm>
          <a:prstGeom prst="rect">
            <a:avLst/>
          </a:prstGeom>
          <a:noFill/>
        </p:spPr>
        <p:txBody>
          <a:bodyPr wrap="square">
            <a:spAutoFit/>
          </a:bodyPr>
          <a:lstStyle/>
          <a:p>
            <a:pPr>
              <a:spcAft>
                <a:spcPts val="800"/>
              </a:spcAft>
              <a:defRPr b="1" sz="1300">
                <a:solidFill>
                  <a:srgbClr val="198038"/>
                </a:solidFill>
              </a:defRPr>
            </a:pPr>
            <a:r>
              <a:t>INDIAN CYBERCRIME ESCALATION INFRASTRUCTURE</a:t>
            </a:r>
          </a:p>
          <a:p>
            <a:pPr>
              <a:defRPr b="1" sz="1100">
                <a:solidFill>
                  <a:srgbClr val="002D9C"/>
                </a:solidFill>
              </a:defRPr>
            </a:pPr>
            <a:r>
              <a:t>📞 National Cybercrime Helpline 1930:</a:t>
            </a:r>
          </a:p>
          <a:p>
            <a:pPr>
              <a:spcAft>
                <a:spcPts val="1200"/>
              </a:spcAft>
              <a:defRPr sz="950"/>
            </a:pPr>
            <a:r>
              <a:t>Prominently surfaced in the application header and every scan result alert. Critical for immediate reporting to freeze fraudulent UPI/financial transactions within the 'golden hour'.</a:t>
            </a:r>
          </a:p>
          <a:p>
            <a:pPr>
              <a:defRPr b="1" sz="1100">
                <a:solidFill>
                  <a:srgbClr val="002D9C"/>
                </a:solidFill>
              </a:defRPr>
            </a:pPr>
            <a:r>
              <a:t>🌐 National Cybercrime Reporting Portal (cybercrime.gov.in):</a:t>
            </a:r>
          </a:p>
          <a:p>
            <a:pPr>
              <a:defRPr sz="950"/>
            </a:pPr>
            <a:r>
              <a:t>Direct one-click incident reporting button routing victims directly to the Ministry of Home Affairs (MHA) official reporting portal.</a:t>
            </a:r>
            <a:br/>
            <a:r>
              <a:t>• Zero User IP Eavesdropping: The scanner never queries the user's location, guaranteeing complete citizen privacy.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9264"/>
            <a:ext cx="12191695" cy="45720"/>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10515600" cy="274320"/>
          </a:xfrm>
          <a:prstGeom prst="rect">
            <a:avLst/>
          </a:prstGeom>
          <a:noFill/>
        </p:spPr>
        <p:txBody>
          <a:bodyPr wrap="square">
            <a:spAutoFit/>
          </a:bodyPr>
          <a:lstStyle/>
          <a:p>
            <a:pPr>
              <a:defRPr sz="950" b="1">
                <a:solidFill>
                  <a:srgbClr val="1192E8"/>
                </a:solidFill>
                <a:latin typeface="Arial"/>
              </a:defRPr>
            </a:pPr>
            <a:r>
              <a:t>PHISHGUARD//NEXUS &amp;BULL; IBM SKILLSBUILD CAPSTONE</a:t>
            </a:r>
          </a:p>
        </p:txBody>
      </p:sp>
      <p:sp>
        <p:nvSpPr>
          <p:cNvPr id="5" name="TextBox 4"/>
          <p:cNvSpPr txBox="1"/>
          <p:nvPr/>
        </p:nvSpPr>
        <p:spPr>
          <a:xfrm>
            <a:off x="731520" y="320040"/>
            <a:ext cx="10515600" cy="594360"/>
          </a:xfrm>
          <a:prstGeom prst="rect">
            <a:avLst/>
          </a:prstGeom>
          <a:noFill/>
        </p:spPr>
        <p:txBody>
          <a:bodyPr wrap="square">
            <a:spAutoFit/>
          </a:bodyPr>
          <a:lstStyle/>
          <a:p>
            <a:pPr>
              <a:defRPr sz="2200" b="1">
                <a:solidFill>
                  <a:srgbClr val="FFFFFF"/>
                </a:solidFill>
                <a:latin typeface="Arial"/>
              </a:defRPr>
            </a:pPr>
            <a:r>
              <a:t>Live Production Cloud Deployment &amp; Verification</a:t>
            </a:r>
          </a:p>
        </p:txBody>
      </p:sp>
      <p:sp>
        <p:nvSpPr>
          <p:cNvPr id="6" name="TextBox 5"/>
          <p:cNvSpPr txBox="1"/>
          <p:nvPr/>
        </p:nvSpPr>
        <p:spPr>
          <a:xfrm>
            <a:off x="731520" y="6492240"/>
            <a:ext cx="10698480" cy="274320"/>
          </a:xfrm>
          <a:prstGeom prst="rect">
            <a:avLst/>
          </a:prstGeom>
          <a:noFill/>
        </p:spPr>
        <p:txBody>
          <a:bodyPr wrap="none">
            <a:spAutoFit/>
          </a:bodyPr>
          <a:lstStyle/>
          <a:p>
            <a:pPr>
              <a:defRPr sz="850">
                <a:solidFill>
                  <a:srgbClr val="757575"/>
                </a:solidFill>
                <a:latin typeface="Arial"/>
              </a:defRPr>
            </a:pPr>
            <a:r>
              <a:t>Sahil Rai | BCA, Lovely Professional University | ID: IBMUEML002432 | AICTE-BharatCares-IBM SkillsBuild 2026</a:t>
            </a:r>
          </a:p>
        </p:txBody>
      </p:sp>
      <p:sp>
        <p:nvSpPr>
          <p:cNvPr id="7" name="Rounded Rectangle 6"/>
          <p:cNvSpPr/>
          <p:nvPr/>
        </p:nvSpPr>
        <p:spPr>
          <a:xfrm>
            <a:off x="7315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846320" cy="4663440"/>
          </a:xfrm>
          <a:prstGeom prst="rect">
            <a:avLst/>
          </a:prstGeom>
          <a:noFill/>
        </p:spPr>
        <p:txBody>
          <a:bodyPr wrap="square">
            <a:spAutoFit/>
          </a:bodyPr>
          <a:lstStyle/>
          <a:p>
            <a:pPr>
              <a:spcAft>
                <a:spcPts val="800"/>
              </a:spcAft>
              <a:defRPr b="1" sz="1300">
                <a:solidFill>
                  <a:srgbClr val="0F62FE"/>
                </a:solidFill>
              </a:defRPr>
            </a:pPr>
            <a:r>
              <a:t>PRODUCTION DEPLOYMENT PROOF</a:t>
            </a:r>
          </a:p>
          <a:p>
            <a:pPr>
              <a:defRPr b="1" sz="1000">
                <a:solidFill>
                  <a:srgbClr val="002D9C"/>
                </a:solidFill>
              </a:defRPr>
            </a:pPr>
            <a:r>
              <a:t>• Live Cloud Web Platform: https://phishguard-nexus.vercel.app/</a:t>
            </a:r>
          </a:p>
          <a:p>
            <a:pPr>
              <a:defRPr sz="950"/>
            </a:pPr>
            <a:r>
              <a:t>• Easy Mobile Shortlink: https://tinyurl.com/pg-nexus</a:t>
            </a:r>
            <a:br/>
            <a:r>
              <a:t>• Mobile PWA: Responsive Cyberpunk terminal layout with 'Add to Home Screen' capability.</a:t>
            </a:r>
            <a:br/>
            <a:r>
              <a:t>• Automated Test Suite: 8/8 Unit &amp; Integration tests passing 100% (pytest).</a:t>
            </a:r>
            <a:br/>
            <a:r>
              <a:t>• Serverless Cloud Architecture: FastAPI backend + Vercel ASGI functions + SQLite edge storage.</a:t>
            </a:r>
            <a:br/>
            <a:r>
              <a:t>• Zero Local Dependencies: Fully decoupled from local machine; runs 24/7 globally.</a:t>
            </a:r>
          </a:p>
        </p:txBody>
      </p:sp>
      <p:sp>
        <p:nvSpPr>
          <p:cNvPr id="9" name="Rounded Rectangle 8"/>
          <p:cNvSpPr/>
          <p:nvPr/>
        </p:nvSpPr>
        <p:spPr>
          <a:xfrm>
            <a:off x="6217920" y="1280160"/>
            <a:ext cx="5212080" cy="4937760"/>
          </a:xfrm>
          <a:prstGeom prst="roundRect">
            <a:avLst/>
          </a:prstGeom>
          <a:solidFill>
            <a:srgbClr val="F4F4F4"/>
          </a:solidFill>
          <a:ln w="1270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71600"/>
            <a:ext cx="4846320" cy="4663440"/>
          </a:xfrm>
          <a:prstGeom prst="rect">
            <a:avLst/>
          </a:prstGeom>
          <a:noFill/>
        </p:spPr>
        <p:txBody>
          <a:bodyPr wrap="square">
            <a:spAutoFit/>
          </a:bodyPr>
          <a:lstStyle/>
          <a:p>
            <a:pPr>
              <a:spcAft>
                <a:spcPts val="800"/>
              </a:spcAft>
              <a:defRPr b="1" sz="1300">
                <a:solidFill>
                  <a:srgbClr val="0F62FE"/>
                </a:solidFill>
              </a:defRPr>
            </a:pPr>
            <a:r>
              <a:t>IBM SKILLSBUILD 6-WEEK PROGRESSION</a:t>
            </a:r>
          </a:p>
          <a:p>
            <a:pPr>
              <a:spcAft>
                <a:spcPts val="400"/>
              </a:spcAft>
            </a:pPr>
            <a:r>
              <a:rPr b="1" sz="950">
                <a:solidFill>
                  <a:srgbClr val="002D9C"/>
                </a:solidFill>
              </a:rPr>
              <a:t>Week 1: </a:t>
            </a:r>
            <a:r>
              <a:rPr sz="900"/>
              <a:t>Orientation, Tools Setup (VS Code, IBM BOB), Dataset Ingestion.</a:t>
            </a:r>
          </a:p>
          <a:p>
            <a:pPr>
              <a:spcAft>
                <a:spcPts val="400"/>
              </a:spcAft>
            </a:pPr>
            <a:r>
              <a:rPr b="1" sz="950">
                <a:solidFill>
                  <a:srgbClr val="002D9C"/>
                </a:solidFill>
              </a:rPr>
              <a:t>Week 2: </a:t>
            </a:r>
            <a:r>
              <a:rPr sz="900"/>
              <a:t>Supervised Learning, Feature Engineering, Classifier Benchmarking.</a:t>
            </a:r>
          </a:p>
          <a:p>
            <a:pPr>
              <a:spcAft>
                <a:spcPts val="400"/>
              </a:spcAft>
            </a:pPr>
            <a:r>
              <a:rPr b="1" sz="950">
                <a:solidFill>
                  <a:srgbClr val="002D9C"/>
                </a:solidFill>
              </a:rPr>
              <a:t>Week 3: </a:t>
            </a:r>
            <a:r>
              <a:rPr sz="900"/>
              <a:t>Hidden Patterns, Shannon Entropy, GroupShuffle Validation.</a:t>
            </a:r>
          </a:p>
          <a:p>
            <a:pPr>
              <a:spcAft>
                <a:spcPts val="400"/>
              </a:spcAft>
            </a:pPr>
            <a:r>
              <a:rPr b="1" sz="950">
                <a:solidFill>
                  <a:srgbClr val="002D9C"/>
                </a:solidFill>
              </a:rPr>
              <a:t>Week 4: </a:t>
            </a:r>
            <a:r>
              <a:rPr sz="900"/>
              <a:t>Intelligent Agents, SHAP XAI Engine, watsonx Advisory.</a:t>
            </a:r>
          </a:p>
          <a:p>
            <a:pPr>
              <a:spcAft>
                <a:spcPts val="400"/>
              </a:spcAft>
            </a:pPr>
            <a:r>
              <a:rPr b="1" sz="950">
                <a:solidFill>
                  <a:srgbClr val="002D9C"/>
                </a:solidFill>
              </a:rPr>
              <a:t>Week 5: </a:t>
            </a:r>
            <a:r>
              <a:rPr sz="900"/>
              <a:t>FastAPI Backend, Cyberpunk UI Dashboard, PDF Engine.</a:t>
            </a:r>
          </a:p>
          <a:p>
            <a:pPr>
              <a:spcAft>
                <a:spcPts val="400"/>
              </a:spcAft>
            </a:pPr>
            <a:r>
              <a:rPr b="1" sz="950">
                <a:solidFill>
                  <a:srgbClr val="002D9C"/>
                </a:solidFill>
              </a:rPr>
              <a:t>Week 6: </a:t>
            </a:r>
            <a:r>
              <a:rPr sz="900"/>
              <a:t>Live Vercel Cloud Deployment, Concept Note &amp; Lean Canvas Finalization.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F6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32720" cy="5303520"/>
          </a:xfrm>
          <a:prstGeom prst="rect">
            <a:avLst/>
          </a:prstGeom>
          <a:noFill/>
        </p:spPr>
        <p:txBody>
          <a:bodyPr wrap="square">
            <a:spAutoFit/>
          </a:bodyPr>
          <a:lstStyle/>
          <a:p>
            <a:pPr>
              <a:spcAft>
                <a:spcPts val="1400"/>
              </a:spcAft>
              <a:defRPr sz="2800" b="1">
                <a:solidFill>
                  <a:srgbClr val="FFFFFF"/>
                </a:solidFill>
                <a:latin typeface="Arial"/>
              </a:defRPr>
            </a:pPr>
            <a:r>
              <a:t>CONCLUSION &amp; PHASE 2 ROADMAP</a:t>
            </a:r>
          </a:p>
          <a:p>
            <a:pPr>
              <a:defRPr b="1" sz="1300">
                <a:solidFill>
                  <a:srgbClr val="1192E8"/>
                </a:solidFill>
              </a:defRPr>
            </a:pPr>
            <a:r>
              <a:t>Project Summary &amp; Industry Significance:</a:t>
            </a:r>
          </a:p>
          <a:p>
            <a:pPr>
              <a:spcAft>
                <a:spcPts val="1400"/>
              </a:spcAft>
              <a:defRPr sz="1100">
                <a:solidFill>
                  <a:srgbClr val="FFFFFF"/>
                </a:solidFill>
              </a:defRPr>
            </a:pPr>
            <a:r>
              <a:t>PHISHGUARD//NEXUS demonstrates that high-precision cybersecurity detection and transparent explainability can coexist within a lightweight, zero-latency architecture. Built on genuine lexical data and verified with calibrated ML, the project delivers actionable defense directly aligned with UN SDGs 9 and 16.</a:t>
            </a:r>
          </a:p>
          <a:p>
            <a:pPr>
              <a:defRPr b="1" sz="1300">
                <a:solidFill>
                  <a:srgbClr val="1192E8"/>
                </a:solidFill>
              </a:defRPr>
            </a:pPr>
            <a:r>
              <a:t>Phase 2 Innovation Roadmap:</a:t>
            </a:r>
          </a:p>
          <a:p>
            <a:pPr>
              <a:spcAft>
                <a:spcPts val="2000"/>
              </a:spcAft>
              <a:defRPr sz="1100">
                <a:solidFill>
                  <a:srgbClr val="FFFFFF"/>
                </a:solidFill>
              </a:defRPr>
            </a:pPr>
            <a:r>
              <a:t>• Quishing (QR Code Phishing) Defense: Mobile camera QR image decoding with instant threat detection.</a:t>
            </a:r>
            <a:br/>
            <a:r>
              <a:t>• Interactive Counterfactual 'What-If' Simulator: Real-time feature manipulation sliders for user education.</a:t>
            </a:r>
            <a:br/>
            <a:r>
              <a:t>• Crowdsourced Threat Intelligence Feed: Privacy-preserving federated threat sharing across Indian universities.</a:t>
            </a:r>
          </a:p>
          <a:p>
            <a:pPr>
              <a:defRPr b="1" sz="1800">
                <a:solidFill>
                  <a:srgbClr val="198038"/>
                </a:solidFill>
              </a:defRPr>
            </a:pPr>
            <a:r>
              <a:t>Thank You! Ready for Evaluator Discussion &amp; Q&amp;A.</a:t>
            </a:r>
          </a:p>
          <a:p>
            <a:pPr>
              <a:defRPr sz="1100">
                <a:solidFill>
                  <a:srgbClr val="757575"/>
                </a:solidFill>
              </a:defRPr>
            </a:pPr>
            <a:r>
              <a:t>Sahil Rai | BCA, Lovely Professional University | IBM SkillsBuild Internship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